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46120" y="1051560"/>
            <a:ext cx="18288" cy="4434840"/>
          </a:xfrm>
          <a:prstGeom prst="rect">
            <a:avLst/>
          </a:prstGeom>
          <a:solidFill>
            <a:srgbClr val="F5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0760" y="1051560"/>
            <a:ext cx="18288" cy="4434840"/>
          </a:xfrm>
          <a:prstGeom prst="rect">
            <a:avLst/>
          </a:prstGeom>
          <a:solidFill>
            <a:srgbClr val="F5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400" y="1051560"/>
            <a:ext cx="18288" cy="4434840"/>
          </a:xfrm>
          <a:prstGeom prst="rect">
            <a:avLst/>
          </a:prstGeom>
          <a:solidFill>
            <a:srgbClr val="F5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2057400"/>
            <a:ext cx="10012680" cy="18288"/>
          </a:xfrm>
          <a:prstGeom prst="rect">
            <a:avLst/>
          </a:prstGeom>
          <a:solidFill>
            <a:srgbClr val="F5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3063240"/>
            <a:ext cx="10012680" cy="18288"/>
          </a:xfrm>
          <a:prstGeom prst="rect">
            <a:avLst/>
          </a:prstGeom>
          <a:solidFill>
            <a:srgbClr val="F5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4069080"/>
            <a:ext cx="10012680" cy="18288"/>
          </a:xfrm>
          <a:prstGeom prst="rect">
            <a:avLst/>
          </a:prstGeom>
          <a:solidFill>
            <a:srgbClr val="F5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5074920"/>
            <a:ext cx="10012680" cy="18288"/>
          </a:xfrm>
          <a:prstGeom prst="rect">
            <a:avLst/>
          </a:prstGeom>
          <a:solidFill>
            <a:srgbClr val="F5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63345"/>
            <a:ext cx="9738360" cy="231711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Trebuchet MS" panose="020B0603020202020204"/>
              </a:rPr>
              <a:t>Purplle Store Intelligence (PS3)</a:t>
            </a:r>
            <a:endParaRPr sz="4000" b="1" i="0">
              <a:solidFill>
                <a:srgbClr val="FFFFFF"/>
              </a:solidFill>
              <a:latin typeface="Trebuchet MS" panose="020B0603020202020204"/>
            </a:endParaRPr>
          </a:p>
          <a:p>
            <a:pPr algn="ctr"/>
            <a:r>
              <a:rPr sz="2500" b="1" i="0">
                <a:solidFill>
                  <a:schemeClr val="tx1"/>
                </a:solidFill>
                <a:latin typeface="Calibri" panose="020F0502020204030204"/>
              </a:rPr>
              <a:t>An End-to-End Real-Time Retail Analytics &amp; Computer Vision Platform</a:t>
            </a:r>
            <a:endParaRPr sz="2500" b="1" i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endParaRPr sz="2500" b="1" i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400" b="1" i="0">
                <a:solidFill>
                  <a:srgbClr val="E0148C"/>
                </a:solidFill>
                <a:latin typeface="Calibri" panose="020F0502020204030204"/>
              </a:rPr>
              <a:t>Created by: Aditya Verma</a:t>
            </a:r>
            <a:endParaRPr sz="1400" b="1" i="0">
              <a:solidFill>
                <a:srgbClr val="E0148C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17720" y="4572000"/>
            <a:ext cx="2971800" cy="384048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REAL-TIME STORE ANALYTICS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F1020"/>
                </a:solidFill>
                <a:latin typeface="Trebuchet MS" panose="020B0603020202020204"/>
              </a:rPr>
              <a:t>The Retail Analytics Disconnect</a:t>
            </a:r>
            <a:endParaRPr sz="2800" b="1" i="0">
              <a:solidFill>
                <a:srgbClr val="1F1020"/>
              </a:solidFill>
              <a:latin typeface="Trebuchet MS" panose="020B0603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394960" cy="4480560"/>
          </a:xfrm>
          <a:prstGeom prst="roundRect">
            <a:avLst/>
          </a:prstGeom>
          <a:solidFill>
            <a:srgbClr val="FFF7FB"/>
          </a:solidFill>
          <a:ln w="12700">
            <a:solidFill>
              <a:srgbClr val="F0B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2240280" cy="347472"/>
          </a:xfrm>
          <a:prstGeom prst="roundRect">
            <a:avLst/>
          </a:prstGeom>
          <a:solidFill>
            <a:srgbClr val="4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E-COMMERCE Maturity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92240" y="1234440"/>
            <a:ext cx="2651760" cy="347472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BRICK-AND-MORTAR BLIND SPOT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164592" cy="164592"/>
          </a:xfrm>
          <a:prstGeom prst="ellipse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45919"/>
            <a:ext cx="4480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Calibri" panose="020F0502020204030204"/>
              </a:rPr>
              <a:t>Tracked in real time</a:t>
            </a:r>
            <a:endParaRPr sz="1600" b="1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44805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Calibri" panose="020F0502020204030204"/>
              </a:rPr>
              <a:t>Every user session, click-through,
and exit path is meticulously tracked.</a:t>
            </a:r>
            <a:endParaRPr sz="14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164592" cy="164592"/>
          </a:xfrm>
          <a:prstGeom prst="ellipse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79"/>
            <a:ext cx="4480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Calibri" panose="020F0502020204030204"/>
              </a:rPr>
              <a:t>Transparent funnels</a:t>
            </a:r>
            <a:endParaRPr sz="1600" b="1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44805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Calibri" panose="020F0502020204030204"/>
              </a:rPr>
              <a:t>Conversion funnels and drop-offs are
mapped with clear attribution.</a:t>
            </a:r>
            <a:endParaRPr sz="14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12280" y="1737360"/>
            <a:ext cx="164592" cy="164592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645919"/>
            <a:ext cx="42062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E0148C"/>
                </a:solidFill>
                <a:latin typeface="Calibri" panose="020F0502020204030204"/>
              </a:rPr>
              <a:t>Zero visibility</a:t>
            </a:r>
            <a:endParaRPr sz="1600" b="1" i="0">
              <a:solidFill>
                <a:srgbClr val="E0148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193852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 panose="020F0502020204030204"/>
              </a:rPr>
              <a:t>Physical retail environments operate
inside a complete data vacuum.</a:t>
            </a:r>
            <a:endParaRPr sz="1400" b="0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812280" y="3017520"/>
            <a:ext cx="164592" cy="164592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926079"/>
            <a:ext cx="42062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E0148C"/>
                </a:solidFill>
                <a:latin typeface="Calibri" panose="020F0502020204030204"/>
              </a:rPr>
              <a:t>No path intelligence</a:t>
            </a:r>
            <a:endParaRPr sz="1600" b="1" i="0">
              <a:solidFill>
                <a:srgbClr val="E0148C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0880" y="32186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 panose="020F0502020204030204"/>
              </a:rPr>
              <a:t>No insight into navigation paths, zone engagement,
or checkout fatigue.</a:t>
            </a:r>
            <a:endParaRPr sz="1400" b="0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10744200" cy="713232"/>
          </a:xfrm>
          <a:prstGeom prst="roundRect">
            <a:avLst/>
          </a:prstGeom>
          <a:solidFill>
            <a:srgbClr val="2D1226"/>
          </a:solidFill>
          <a:ln>
            <a:solidFill>
              <a:srgbClr val="2D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F5A0D0"/>
                </a:solidFill>
                <a:latin typeface="Calibri" panose="020F0502020204030204"/>
              </a:rPr>
              <a:t>"Apex Retail operates 40 physical stores across 8 cities with zero insight into why customers walk out without buying."</a:t>
            </a:r>
            <a:endParaRPr sz="1400" i="1">
              <a:solidFill>
                <a:srgbClr val="F5A0D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 i="0">
                <a:solidFill>
                  <a:srgbClr val="1F1020"/>
                </a:solidFill>
                <a:latin typeface="Trebuchet MS" panose="020B0603020202020204"/>
              </a:rPr>
              <a:t>The Purplle Store Intelligence Blueprint</a:t>
            </a:r>
            <a:endParaRPr sz="2700" b="1" i="0">
              <a:solidFill>
                <a:srgbClr val="1F1020"/>
              </a:solidFill>
              <a:latin typeface="Trebuchet MS" panose="020B0603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657600" cy="4480560"/>
          </a:xfrm>
          <a:prstGeom prst="roundRect">
            <a:avLst/>
          </a:prstGeom>
          <a:solidFill>
            <a:srgbClr val="2D1226"/>
          </a:solidFill>
          <a:ln w="12700">
            <a:solidFill>
              <a:srgbClr val="3D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399032"/>
            <a:ext cx="3328416" cy="502920"/>
          </a:xfrm>
          <a:prstGeom prst="roundRect">
            <a:avLst/>
          </a:prstGeom>
          <a:solidFill>
            <a:srgbClr val="E0148C"/>
          </a:solidFill>
          <a:ln>
            <a:solidFill>
              <a:srgbClr val="E0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918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AI Vision Pipeline (Python)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2697480"/>
            <a:ext cx="32552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1DAE8"/>
                </a:solidFill>
                <a:latin typeface="Calibri" panose="020F0502020204030204"/>
              </a:rPr>
              <a:t>Processes multi-camera frame ingestion simultaneously.</a:t>
            </a:r>
            <a:endParaRPr sz="1400">
              <a:solidFill>
                <a:srgbClr val="F1DAE8"/>
              </a:solidFill>
              <a:latin typeface="Calibri" panose="020F0502020204030204"/>
            </a:endParaRPr>
          </a:p>
          <a:p>
            <a:r>
              <a:rPr sz="1400">
                <a:solidFill>
                  <a:srgbClr val="F1DAE8"/>
                </a:solidFill>
                <a:latin typeface="Calibri" panose="020F0502020204030204"/>
              </a:rPr>
              <a:t>Extracts spatial tracking arrays and emits edge events.</a:t>
            </a:r>
            <a:endParaRPr sz="1400">
              <a:solidFill>
                <a:srgbClr val="F1DAE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5029200"/>
            <a:ext cx="3200400" cy="91440"/>
          </a:xfrm>
          <a:prstGeom prst="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5184648"/>
            <a:ext cx="1463040" cy="274320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PYTHON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657600" cy="4480560"/>
          </a:xfrm>
          <a:prstGeom prst="roundRect">
            <a:avLst/>
          </a:prstGeom>
          <a:solidFill>
            <a:srgbClr val="2D1226"/>
          </a:solidFill>
          <a:ln w="12700">
            <a:solidFill>
              <a:srgbClr val="3D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1" y="1399032"/>
            <a:ext cx="3328416" cy="502920"/>
          </a:xfrm>
          <a:prstGeom prst="roundRect">
            <a:avLst/>
          </a:prstGeom>
          <a:solidFill>
            <a:srgbClr val="E0148C"/>
          </a:solidFill>
          <a:ln>
            <a:solidFill>
              <a:srgbClr val="E0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32918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Stateful Analytics (Spring Boot)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007" y="2697480"/>
            <a:ext cx="32552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1DAE8"/>
                </a:solidFill>
                <a:latin typeface="Calibri" panose="020F0502020204030204"/>
              </a:rPr>
              <a:t>Idempotent event ingestion sink with anomaly scanning.</a:t>
            </a:r>
            <a:endParaRPr sz="1400">
              <a:solidFill>
                <a:srgbClr val="F1DAE8"/>
              </a:solidFill>
              <a:latin typeface="Calibri" panose="020F0502020204030204"/>
            </a:endParaRPr>
          </a:p>
          <a:p>
            <a:r>
              <a:rPr sz="1400">
                <a:solidFill>
                  <a:srgbClr val="F1DAE8"/>
                </a:solidFill>
                <a:latin typeface="Calibri" panose="020F0502020204030204"/>
              </a:rPr>
              <a:t>Correlates tracking sequences with POS transactions.</a:t>
            </a:r>
            <a:endParaRPr sz="1400">
              <a:solidFill>
                <a:srgbClr val="F1DAE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5029200"/>
            <a:ext cx="3200400" cy="91440"/>
          </a:xfrm>
          <a:prstGeom prst="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4296" y="5184648"/>
            <a:ext cx="1463040" cy="274320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SPRING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21040" y="1234440"/>
            <a:ext cx="3657600" cy="4480560"/>
          </a:xfrm>
          <a:prstGeom prst="roundRect">
            <a:avLst/>
          </a:prstGeom>
          <a:solidFill>
            <a:srgbClr val="2D1226"/>
          </a:solidFill>
          <a:ln w="12700">
            <a:solidFill>
              <a:srgbClr val="3D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85632" y="1399032"/>
            <a:ext cx="3328416" cy="502920"/>
          </a:xfrm>
          <a:prstGeom prst="roundRect">
            <a:avLst/>
          </a:prstGeom>
          <a:solidFill>
            <a:srgbClr val="E0148C"/>
          </a:solidFill>
          <a:ln>
            <a:solidFill>
              <a:srgbClr val="E0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19" y="2103120"/>
            <a:ext cx="32918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Operational Dashboard (React)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22208" y="2697480"/>
            <a:ext cx="32552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1DAE8"/>
                </a:solidFill>
                <a:latin typeface="Calibri" panose="020F0502020204030204"/>
              </a:rPr>
              <a:t>Renders live canvas layouts with real-time streams.</a:t>
            </a:r>
            <a:endParaRPr sz="1400">
              <a:solidFill>
                <a:srgbClr val="F1DAE8"/>
              </a:solidFill>
              <a:latin typeface="Calibri" panose="020F0502020204030204"/>
            </a:endParaRPr>
          </a:p>
          <a:p>
            <a:r>
              <a:rPr sz="1400">
                <a:solidFill>
                  <a:srgbClr val="F1DAE8"/>
                </a:solidFill>
                <a:latin typeface="Calibri" panose="020F0502020204030204"/>
              </a:rPr>
              <a:t>Provides immediate visibility for store managers.</a:t>
            </a:r>
            <a:endParaRPr sz="1400">
              <a:solidFill>
                <a:srgbClr val="F1DAE8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49640" y="5029200"/>
            <a:ext cx="3200400" cy="91440"/>
          </a:xfrm>
          <a:prstGeom prst="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40496" y="5184648"/>
            <a:ext cx="1463040" cy="274320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REACT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 i="0">
                <a:solidFill>
                  <a:srgbClr val="1F1020"/>
                </a:solidFill>
                <a:latin typeface="Trebuchet MS" panose="020B0603020202020204"/>
              </a:rPr>
              <a:t>End-to-End Data Lifecycle Architecture</a:t>
            </a:r>
            <a:endParaRPr sz="2700" b="1" i="0">
              <a:solidFill>
                <a:srgbClr val="1F1020"/>
              </a:solidFill>
              <a:latin typeface="Trebuchet MS" panose="020B0603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682496"/>
            <a:ext cx="502920" cy="502920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1664208"/>
            <a:ext cx="26517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F1020"/>
                </a:solidFill>
                <a:latin typeface="Calibri" panose="020F0502020204030204"/>
              </a:rPr>
              <a:t>Edge CV Layer</a:t>
            </a:r>
            <a:endParaRPr sz="1800" b="1" i="0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2461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Calibri" panose="020F0502020204030204"/>
              </a:rPr>
              <a:t>CCTV Footage Ingest → YOLOv8s Detect → ByteTrack + ResNet ReID → JSONL Streaming</a:t>
            </a:r>
            <a:endParaRPr sz="14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4261103" y="2606040"/>
            <a:ext cx="201168" cy="365760"/>
          </a:xfrm>
          <a:prstGeom prst="chevron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1682496"/>
            <a:ext cx="502920" cy="502920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12079" y="1664208"/>
            <a:ext cx="26517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F1020"/>
                </a:solidFill>
                <a:latin typeface="Calibri" panose="020F0502020204030204"/>
              </a:rPr>
              <a:t>Processing Engine</a:t>
            </a:r>
            <a:endParaRPr sz="1800" b="1" i="0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32461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Calibri" panose="020F0502020204030204"/>
              </a:rPr>
              <a:t>HTTP POST Ingestion → Idempotent Filter → MetricsService Core → 60s Sliding Window Scans</a:t>
            </a:r>
            <a:endParaRPr sz="14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8147304" y="2606040"/>
            <a:ext cx="201168" cy="365760"/>
          </a:xfrm>
          <a:prstGeom prst="chevron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50876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19" y="1682496"/>
            <a:ext cx="502920" cy="502920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98280" y="1664208"/>
            <a:ext cx="26517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F1020"/>
                </a:solidFill>
                <a:latin typeface="Calibri" panose="020F0502020204030204"/>
              </a:rPr>
              <a:t>UI Delivery</a:t>
            </a:r>
            <a:endParaRPr sz="1800" b="1" i="0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19" y="2240280"/>
            <a:ext cx="32461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Calibri" panose="020F0502020204030204"/>
              </a:rPr>
              <a:t>WebSocket STOMP Push → React useStore Sync → Real-Time Chart Renders</a:t>
            </a:r>
            <a:endParaRPr sz="1400" b="0" i="0">
              <a:solidFill>
                <a:srgbClr val="6670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 i="0">
                <a:solidFill>
                  <a:srgbClr val="1F1020"/>
                </a:solidFill>
                <a:latin typeface="Trebuchet MS" panose="020B0603020202020204"/>
              </a:rPr>
              <a:t>Multi-Model Computer Vision Ingestion</a:t>
            </a:r>
            <a:endParaRPr sz="2700" b="1" i="0">
              <a:solidFill>
                <a:srgbClr val="1F1020"/>
              </a:solidFill>
              <a:latin typeface="Trebuchet MS" panose="020B0603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212080" cy="2103120"/>
          </a:xfrm>
          <a:prstGeom prst="roundRect">
            <a:avLst/>
          </a:prstGeom>
          <a:solidFill>
            <a:srgbClr val="2D1226"/>
          </a:solidFill>
          <a:ln w="12700">
            <a:solidFill>
              <a:srgbClr val="3D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435608"/>
            <a:ext cx="457200" cy="457200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A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7319" y="1417320"/>
            <a:ext cx="3931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Person Detection &amp; ID Tracking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47548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F5DCEB"/>
                </a:solidFill>
                <a:latin typeface="Calibri" panose="020F0502020204030204"/>
              </a:rPr>
              <a:t>YOLOv8s Model: 30+ FPS edge inference maintaining ~80% mAP on COCO person classes.
ByteTrack + ResNet50 ReID: Stable tracking across multiple overlapping cameras without manual re-assignment.</a:t>
            </a:r>
            <a:endParaRPr sz="1300" b="0" i="0">
              <a:solidFill>
                <a:srgbClr val="F5DCEB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1435608"/>
            <a:ext cx="457200" cy="457200"/>
          </a:xfrm>
          <a:prstGeom prst="ellipse">
            <a:avLst/>
          </a:prstGeom>
          <a:solidFill>
            <a:srgbClr val="F0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1020"/>
                </a:solidFill>
                <a:latin typeface="Calibri" panose="020F0502020204030204"/>
              </a:rPr>
              <a:t>B</a:t>
            </a:r>
            <a:endParaRPr sz="16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95159" y="1417320"/>
            <a:ext cx="3931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1F1020"/>
                </a:solidFill>
                <a:latin typeface="Calibri" panose="020F0502020204030204"/>
              </a:rPr>
              <a:t>Spatial Mapping &amp; Zone Isolation</a:t>
            </a:r>
            <a:endParaRPr sz="1700" b="1" i="0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7548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7085"/>
                </a:solidFill>
                <a:latin typeface="Calibri" panose="020F0502020204030204"/>
              </a:rPr>
              <a:t>OpenCV pointPolygonTest: Translates coordinates dynamically into operational store boundaries.
HSV Uniform Classifier: Rule-based magenta/pink thresholding for fast staff isolation.</a:t>
            </a:r>
            <a:endParaRPr sz="13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12080" cy="2103120"/>
          </a:xfrm>
          <a:prstGeom prst="roundRect">
            <a:avLst/>
          </a:prstGeom>
          <a:solidFill>
            <a:srgbClr val="2D1226"/>
          </a:solidFill>
          <a:ln w="12700">
            <a:solidFill>
              <a:srgbClr val="3D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3904487"/>
            <a:ext cx="457200" cy="457200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C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19" y="3886200"/>
            <a:ext cx="3931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Occlusion Handling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4434840"/>
            <a:ext cx="47548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F5DCEB"/>
                </a:solidFill>
                <a:latin typeface="Calibri" panose="020F0502020204030204"/>
              </a:rPr>
              <a:t>Tracks partially visible people gracefully during crowded or low-light conditions.
Confidence-aware filtering avoids silently dropping weak but important detections.</a:t>
            </a:r>
            <a:endParaRPr sz="1300" b="0" i="0">
              <a:solidFill>
                <a:srgbClr val="F5DCEB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37033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3904487"/>
            <a:ext cx="457200" cy="457200"/>
          </a:xfrm>
          <a:prstGeom prst="ellipse">
            <a:avLst/>
          </a:prstGeom>
          <a:solidFill>
            <a:srgbClr val="F0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1020"/>
                </a:solidFill>
                <a:latin typeface="Calibri" panose="020F0502020204030204"/>
              </a:rPr>
              <a:t>D</a:t>
            </a:r>
            <a:endParaRPr sz="16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95159" y="3886200"/>
            <a:ext cx="3931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1F1020"/>
                </a:solidFill>
                <a:latin typeface="Calibri" panose="020F0502020204030204"/>
              </a:rPr>
              <a:t>Event Emission</a:t>
            </a:r>
            <a:endParaRPr sz="1700" b="1" i="0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47548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7085"/>
                </a:solidFill>
                <a:latin typeface="Calibri" panose="020F0502020204030204"/>
              </a:rPr>
              <a:t>Each session is converted into structured events with unique IDs, timestamps, zone labels, and confidence scores.
Supports downstream real-time analytics and anomaly scanning.</a:t>
            </a:r>
            <a:endParaRPr sz="1300" b="0" i="0">
              <a:solidFill>
                <a:srgbClr val="6670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 i="0">
                <a:solidFill>
                  <a:srgbClr val="1F1020"/>
                </a:solidFill>
                <a:latin typeface="Trebuchet MS" panose="020B0603020202020204"/>
              </a:rPr>
              <a:t>Stateful Ingestion &amp; Stream Processing</a:t>
            </a:r>
            <a:endParaRPr sz="2700" b="1" i="0">
              <a:solidFill>
                <a:srgbClr val="1F1020"/>
              </a:solidFill>
              <a:latin typeface="Trebuchet MS" panose="020B0603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5440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353312"/>
            <a:ext cx="1920240" cy="329184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INGESTION ROBUSTNESS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E1E1E"/>
                </a:solidFill>
                <a:latin typeface="Calibri" panose="020F0502020204030204"/>
              </a:rPr>
              <a:t>UUID-Based Idempotency</a:t>
            </a:r>
            <a:endParaRPr sz="1800" b="1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66344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Calibri" panose="020F0502020204030204"/>
              </a:rPr>
              <a:t>Suppresses network retries and duplicate payloads at the endpoint layer.</a:t>
            </a:r>
            <a:endParaRPr sz="14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7548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E1E1E"/>
                </a:solidFill>
                <a:latin typeface="Calibri" panose="020F0502020204030204"/>
              </a:rPr>
              <a:t>Hybrid Storage Adaptability</a:t>
            </a:r>
            <a:endParaRPr sz="1800" b="1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66344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Calibri" panose="020F0502020204030204"/>
              </a:rPr>
              <a:t>In-memory H2 for development with hot-swappable production PostgreSQL support.</a:t>
            </a:r>
            <a:endParaRPr sz="14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4663440" cy="1417320"/>
          </a:xfrm>
          <a:prstGeom prst="roundRect">
            <a:avLst/>
          </a:prstGeom>
          <a:solidFill>
            <a:srgbClr val="1E1020"/>
          </a:solidFill>
          <a:ln w="12700">
            <a:solidFill>
              <a:srgbClr val="3D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200">
                <a:solidFill>
                  <a:srgbClr val="D8CBE0"/>
                </a:solidFill>
                <a:latin typeface="Consolas" panose="020B0609020204030204"/>
              </a:rPr>
              <a:t>POST /events/ingest</a:t>
            </a:r>
            <a:endParaRPr sz="1200">
              <a:solidFill>
                <a:srgbClr val="D8CBE0"/>
              </a:solidFill>
              <a:latin typeface="Consolas" panose="020B0609020204030204"/>
            </a:endParaRPr>
          </a:p>
          <a:p>
            <a:r>
              <a:rPr sz="1200">
                <a:solidFill>
                  <a:srgbClr val="D8CBE0"/>
                </a:solidFill>
                <a:latin typeface="Consolas" panose="020B0609020204030204"/>
              </a:rPr>
              <a:t>{</a:t>
            </a:r>
            <a:endParaRPr sz="1200">
              <a:solidFill>
                <a:srgbClr val="D8CBE0"/>
              </a:solidFill>
              <a:latin typeface="Consolas" panose="020B0609020204030204"/>
            </a:endParaRPr>
          </a:p>
          <a:p>
            <a:r>
              <a:rPr sz="1200">
                <a:solidFill>
                  <a:srgbClr val="D8CBE0"/>
                </a:solidFill>
                <a:latin typeface="Consolas" panose="020B0609020204030204"/>
              </a:rPr>
              <a:t>  "events": [ ... ]</a:t>
            </a:r>
            <a:endParaRPr sz="1200">
              <a:solidFill>
                <a:srgbClr val="D8CBE0"/>
              </a:solidFill>
              <a:latin typeface="Consolas" panose="020B0609020204030204"/>
            </a:endParaRPr>
          </a:p>
          <a:p>
            <a:r>
              <a:rPr sz="1200">
                <a:solidFill>
                  <a:srgbClr val="D8CBE0"/>
                </a:solidFill>
                <a:latin typeface="Consolas" panose="020B0609020204030204"/>
              </a:rPr>
              <a:t>}</a:t>
            </a:r>
            <a:endParaRPr sz="1200">
              <a:solidFill>
                <a:srgbClr val="D8CBE0"/>
              </a:solidFill>
              <a:latin typeface="Consolas" panose="020B0609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257800" cy="5120640"/>
          </a:xfrm>
          <a:prstGeom prst="roundRect">
            <a:avLst/>
          </a:prstGeom>
          <a:solidFill>
            <a:srgbClr val="FFF7FB"/>
          </a:solidFill>
          <a:ln w="12700">
            <a:solidFill>
              <a:srgbClr val="F0B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353312"/>
            <a:ext cx="1920240" cy="329184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ANALYTICS SCANNERS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45720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F1020"/>
                </a:solidFill>
                <a:latin typeface="Calibri" panose="020F0502020204030204"/>
              </a:rPr>
              <a:t>60-Second Sliding Window</a:t>
            </a:r>
            <a:endParaRPr sz="1800" b="1" i="0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457200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 panose="020F0502020204030204"/>
              </a:rPr>
              <a:t>Continuously evaluates crowd anomalies, bottleneck formations, and queue abandonment metrics.</a:t>
            </a:r>
            <a:endParaRPr sz="1400" b="0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45720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F1020"/>
                </a:solidFill>
                <a:latin typeface="Calibri" panose="020F0502020204030204"/>
              </a:rPr>
              <a:t>WebSocket STOMP Brokering</a:t>
            </a:r>
            <a:endParaRPr sz="1800" b="1" i="0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3108960"/>
            <a:ext cx="45720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 panose="020F0502020204030204"/>
              </a:rPr>
              <a:t>Provides &lt;100ms push latency directly to active administrative frontends.</a:t>
            </a:r>
            <a:endParaRPr sz="1400" b="0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0" y="4434840"/>
            <a:ext cx="4434840" cy="457200"/>
          </a:xfrm>
          <a:prstGeom prst="roundRect">
            <a:avLst/>
          </a:prstGeom>
          <a:solidFill>
            <a:srgbClr val="F5D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4434840"/>
            <a:ext cx="1143000" cy="457200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416552"/>
            <a:ext cx="2560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1020"/>
                </a:solidFill>
                <a:latin typeface="Calibri" panose="020F0502020204030204"/>
              </a:rPr>
              <a:t>&lt;100ms push latency</a:t>
            </a:r>
            <a:endParaRPr sz="1400" b="1" i="0">
              <a:solidFill>
                <a:srgbClr val="1F102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 i="0">
                <a:solidFill>
                  <a:srgbClr val="1F1020"/>
                </a:solidFill>
                <a:latin typeface="Trebuchet MS" panose="020B0603020202020204"/>
              </a:rPr>
              <a:t>Actionable Retail Insights Delivered</a:t>
            </a:r>
            <a:endParaRPr sz="2700" b="1" i="0">
              <a:solidFill>
                <a:srgbClr val="1F1020"/>
              </a:solidFill>
              <a:latin typeface="Trebuchet MS" panose="020B0603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5166360" cy="1325880"/>
          </a:xfrm>
          <a:prstGeom prst="roundRect">
            <a:avLst/>
          </a:prstGeom>
          <a:solidFill>
            <a:srgbClr val="2D1226"/>
          </a:solidFill>
          <a:ln w="12700">
            <a:solidFill>
              <a:srgbClr val="2D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417320"/>
            <a:ext cx="26517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Trebuchet MS" panose="020B0603020202020204"/>
              </a:rPr>
              <a:t>80%</a:t>
            </a:r>
            <a:endParaRPr sz="3400" b="1" i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17520" y="1554480"/>
            <a:ext cx="25603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F4D9E7"/>
                </a:solidFill>
                <a:latin typeface="Calibri" panose="020F0502020204030204"/>
              </a:rPr>
              <a:t>Detection Accuracy at scale</a:t>
            </a:r>
            <a:endParaRPr sz="1500" b="0" i="0">
              <a:solidFill>
                <a:srgbClr val="F4D9E7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166360" cy="1325880"/>
          </a:xfrm>
          <a:prstGeom prst="roundRect">
            <a:avLst/>
          </a:prstGeom>
          <a:solidFill>
            <a:srgbClr val="E0148C"/>
          </a:solidFill>
          <a:ln w="12700">
            <a:solidFill>
              <a:srgbClr val="E0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417320"/>
            <a:ext cx="26517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Trebuchet MS" panose="020B0603020202020204"/>
              </a:rPr>
              <a:t>&lt;100ms</a:t>
            </a:r>
            <a:endParaRPr sz="3400" b="1" i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41080" y="1554480"/>
            <a:ext cx="25603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 panose="020F0502020204030204"/>
              </a:rPr>
              <a:t>Telemetry propagation latency</a:t>
            </a:r>
            <a:endParaRPr sz="15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51663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480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E1E1E"/>
                </a:solidFill>
                <a:latin typeface="Calibri" panose="020F0502020204030204"/>
              </a:rPr>
              <a:t>The 4-Stage Operational Funnel</a:t>
            </a:r>
            <a:endParaRPr sz="1800" b="1" i="0">
              <a:solidFill>
                <a:srgbClr val="1E1E1E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 panose="020F0502020204030204"/>
              </a:rPr>
              <a:t>Entry</a:t>
            </a:r>
            <a:endParaRPr sz="12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40280" y="3383280"/>
            <a:ext cx="3566160" cy="219456"/>
          </a:xfrm>
          <a:prstGeom prst="round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40280" y="3383280"/>
            <a:ext cx="3566160" cy="219456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 panose="020F0502020204030204"/>
              </a:rPr>
              <a:t>Browsing Shelf</a:t>
            </a:r>
            <a:endParaRPr sz="12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40280" y="3977640"/>
            <a:ext cx="3566160" cy="219456"/>
          </a:xfrm>
          <a:prstGeom prst="round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0280" y="3977640"/>
            <a:ext cx="2567635" cy="219456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 panose="020F0502020204030204"/>
              </a:rPr>
              <a:t>Billing Queue</a:t>
            </a:r>
            <a:endParaRPr sz="12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240280" y="4572000"/>
            <a:ext cx="3566160" cy="219456"/>
          </a:xfrm>
          <a:prstGeom prst="round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40280" y="4572000"/>
            <a:ext cx="1711756" cy="219456"/>
          </a:xfrm>
          <a:prstGeom prst="roundRect">
            <a:avLst/>
          </a:prstGeom>
          <a:solidFill>
            <a:srgbClr val="8A0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 panose="020F0502020204030204"/>
              </a:rPr>
              <a:t>Completed Exit</a:t>
            </a:r>
            <a:endParaRPr sz="1200" b="0" i="0">
              <a:solidFill>
                <a:srgbClr val="667085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40280" y="5166360"/>
            <a:ext cx="3566160" cy="219456"/>
          </a:xfrm>
          <a:prstGeom prst="round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40280" y="5166360"/>
            <a:ext cx="1141171" cy="219456"/>
          </a:xfrm>
          <a:prstGeom prst="roundRect">
            <a:avLst/>
          </a:prstGeom>
          <a:solidFill>
            <a:srgbClr val="8A0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0760" y="2743200"/>
            <a:ext cx="5486400" cy="3474720"/>
          </a:xfrm>
          <a:prstGeom prst="roundRect">
            <a:avLst/>
          </a:prstGeom>
          <a:solidFill>
            <a:srgbClr val="FFF7FB"/>
          </a:solidFill>
          <a:ln w="12700">
            <a:solidFill>
              <a:srgbClr val="F0B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4663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F1020"/>
                </a:solidFill>
                <a:latin typeface="Calibri" panose="020F0502020204030204"/>
              </a:rPr>
              <a:t>Zone Heatmap (0–100)</a:t>
            </a:r>
            <a:endParaRPr sz="1800" b="1" i="0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3383280"/>
            <a:ext cx="841248" cy="457200"/>
          </a:xfrm>
          <a:prstGeom prst="roundRect">
            <a:avLst/>
          </a:prstGeom>
          <a:solidFill>
            <a:srgbClr val="FD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1020"/>
                </a:solidFill>
                <a:latin typeface="Calibri" panose="020F0502020204030204"/>
              </a:rPr>
              <a:t>18</a:t>
            </a:r>
            <a:endParaRPr sz="13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06640" y="3383280"/>
            <a:ext cx="841248" cy="457200"/>
          </a:xfrm>
          <a:prstGeom prst="roundRect">
            <a:avLst/>
          </a:prstGeom>
          <a:solidFill>
            <a:srgbClr val="F7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1020"/>
                </a:solidFill>
                <a:latin typeface="Calibri" panose="020F0502020204030204"/>
              </a:rPr>
              <a:t>40</a:t>
            </a:r>
            <a:endParaRPr sz="13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412480" y="3383280"/>
            <a:ext cx="841248" cy="457200"/>
          </a:xfrm>
          <a:prstGeom prst="roundRect">
            <a:avLst/>
          </a:prstGeom>
          <a:solidFill>
            <a:srgbClr val="EC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65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18320" y="3383280"/>
            <a:ext cx="841248" cy="457200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92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0" y="4041648"/>
            <a:ext cx="841248" cy="457200"/>
          </a:xfrm>
          <a:prstGeom prst="roundRect">
            <a:avLst/>
          </a:prstGeom>
          <a:solidFill>
            <a:srgbClr val="F7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1020"/>
                </a:solidFill>
                <a:latin typeface="Calibri" panose="020F0502020204030204"/>
              </a:rPr>
              <a:t>28</a:t>
            </a:r>
            <a:endParaRPr sz="13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406640" y="4041648"/>
            <a:ext cx="841248" cy="457200"/>
          </a:xfrm>
          <a:prstGeom prst="roundRect">
            <a:avLst/>
          </a:prstGeom>
          <a:solidFill>
            <a:srgbClr val="EC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1020"/>
                </a:solidFill>
                <a:latin typeface="Calibri" panose="020F0502020204030204"/>
              </a:rPr>
              <a:t>55</a:t>
            </a:r>
            <a:endParaRPr sz="13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412480" y="4041648"/>
            <a:ext cx="841248" cy="457200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78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418320" y="4041648"/>
            <a:ext cx="841248" cy="457200"/>
          </a:xfrm>
          <a:prstGeom prst="roundRect">
            <a:avLst/>
          </a:prstGeom>
          <a:solidFill>
            <a:srgbClr val="F7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1020"/>
                </a:solidFill>
                <a:latin typeface="Calibri" panose="020F0502020204030204"/>
              </a:rPr>
              <a:t>35</a:t>
            </a:r>
            <a:endParaRPr sz="13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0" y="4700016"/>
            <a:ext cx="841248" cy="457200"/>
          </a:xfrm>
          <a:prstGeom prst="roundRect">
            <a:avLst/>
          </a:prstGeom>
          <a:solidFill>
            <a:srgbClr val="FD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1020"/>
                </a:solidFill>
                <a:latin typeface="Calibri" panose="020F0502020204030204"/>
              </a:rPr>
              <a:t>12</a:t>
            </a:r>
            <a:endParaRPr sz="13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406640" y="4700016"/>
            <a:ext cx="841248" cy="457200"/>
          </a:xfrm>
          <a:prstGeom prst="roundRect">
            <a:avLst/>
          </a:prstGeom>
          <a:solidFill>
            <a:srgbClr val="EC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62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412480" y="4700016"/>
            <a:ext cx="841248" cy="457200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84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418320" y="4700016"/>
            <a:ext cx="841248" cy="457200"/>
          </a:xfrm>
          <a:prstGeom prst="roundRect">
            <a:avLst/>
          </a:prstGeom>
          <a:solidFill>
            <a:srgbClr val="F7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1020"/>
                </a:solidFill>
                <a:latin typeface="Calibri" panose="020F0502020204030204"/>
              </a:rPr>
              <a:t>48</a:t>
            </a:r>
            <a:endParaRPr sz="1300" b="1">
              <a:solidFill>
                <a:srgbClr val="1F1020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09360" y="5440680"/>
            <a:ext cx="47548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Calibri" panose="020F0502020204030204"/>
              </a:rPr>
              <a:t>Dwell time normalized to 0–100 for spatial efficiency analysis.</a:t>
            </a:r>
            <a:endParaRPr sz="1200" b="0" i="0">
              <a:solidFill>
                <a:srgbClr val="6670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 i="0">
                <a:solidFill>
                  <a:srgbClr val="1F1020"/>
                </a:solidFill>
                <a:latin typeface="Trebuchet MS" panose="020B0603020202020204"/>
              </a:rPr>
              <a:t>Design Decisions &amp; Operational Mitigations</a:t>
            </a:r>
            <a:endParaRPr sz="2700" b="1" i="0">
              <a:solidFill>
                <a:srgbClr val="1F1020"/>
              </a:solidFill>
              <a:latin typeface="Trebuchet MS" panose="020B06030202020202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92707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874519"/>
                <a:gridCol w="6995160"/>
              </a:tblGrid>
              <a:tr h="8961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Architectural Decision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014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Chosen Tool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014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Technical Justification / Mitigation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0148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1E1E"/>
                          </a:solidFill>
                          <a:latin typeface="Calibri" panose="020F0502020204030204"/>
                        </a:rPr>
                        <a:t>Object Detection</a:t>
                      </a:r>
                      <a:endParaRPr sz="1200">
                        <a:solidFill>
                          <a:srgbClr val="1E1E1E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1E1E"/>
                          </a:solidFill>
                          <a:latin typeface="Calibri" panose="020F0502020204030204"/>
                        </a:rPr>
                        <a:t>YOLOv8s</a:t>
                      </a:r>
                      <a:endParaRPr sz="1200">
                        <a:solidFill>
                          <a:srgbClr val="1E1E1E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7085"/>
                          </a:solidFill>
                          <a:latin typeface="Calibri" panose="020F0502020204030204"/>
                        </a:rPr>
                        <a:t>Prioritizes 30+ FPS edge throughput over heavy models; filtered post-processing addresses small-scale misses.</a:t>
                      </a:r>
                      <a:endParaRPr sz="1100">
                        <a:solidFill>
                          <a:srgbClr val="667085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1E1E"/>
                          </a:solidFill>
                          <a:latin typeface="Calibri" panose="020F0502020204030204"/>
                        </a:rPr>
                        <a:t>Staff Classification</a:t>
                      </a:r>
                      <a:endParaRPr sz="1200">
                        <a:solidFill>
                          <a:srgbClr val="1E1E1E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9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1E1E"/>
                          </a:solidFill>
                          <a:latin typeface="Calibri" panose="020F0502020204030204"/>
                        </a:rPr>
                        <a:t>HSV Color Rules</a:t>
                      </a:r>
                      <a:endParaRPr sz="1200">
                        <a:solidFill>
                          <a:srgbClr val="1E1E1E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9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7085"/>
                          </a:solidFill>
                          <a:latin typeface="Calibri" panose="020F0502020204030204"/>
                        </a:rPr>
                        <a:t>Avoids expensive neural networks by using fast rule-based color segmenting for Purplle's distinct uniform.</a:t>
                      </a:r>
                      <a:endParaRPr sz="1100">
                        <a:solidFill>
                          <a:srgbClr val="667085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9FAFD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1E1E"/>
                          </a:solidFill>
                          <a:latin typeface="Calibri" panose="020F0502020204030204"/>
                        </a:rPr>
                        <a:t>Pipeline Ingestion</a:t>
                      </a:r>
                      <a:endParaRPr sz="1200">
                        <a:solidFill>
                          <a:srgbClr val="1E1E1E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1E1E"/>
                          </a:solidFill>
                          <a:latin typeface="Calibri" panose="020F0502020204030204"/>
                        </a:rPr>
                        <a:t>Event-Driven</a:t>
                      </a:r>
                      <a:endParaRPr sz="1200">
                        <a:solidFill>
                          <a:srgbClr val="1E1E1E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7085"/>
                          </a:solidFill>
                          <a:latin typeface="Calibri" panose="020F0502020204030204"/>
                        </a:rPr>
                        <a:t>Rejects delayed batch processes to satisfy tight real-time anomaly reporting windows.</a:t>
                      </a:r>
                      <a:endParaRPr sz="1100">
                        <a:solidFill>
                          <a:srgbClr val="667085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1E1E"/>
                          </a:solidFill>
                          <a:latin typeface="Calibri" panose="020F0502020204030204"/>
                        </a:rPr>
                        <a:t>Data Integrity</a:t>
                      </a:r>
                      <a:endParaRPr sz="1200">
                        <a:solidFill>
                          <a:srgbClr val="1E1E1E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9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1E1E"/>
                          </a:solidFill>
                          <a:latin typeface="Calibri" panose="020F0502020204030204"/>
                        </a:rPr>
                        <a:t>UUID Deduplication</a:t>
                      </a:r>
                      <a:endParaRPr sz="1200">
                        <a:solidFill>
                          <a:srgbClr val="1E1E1E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9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7085"/>
                          </a:solidFill>
                          <a:latin typeface="Calibri" panose="020F0502020204030204"/>
                        </a:rPr>
                        <a:t>Guarantees exact-once processing metrics even during intermittent network packet loss.</a:t>
                      </a:r>
                      <a:endParaRPr sz="1100">
                        <a:solidFill>
                          <a:srgbClr val="667085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9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rebuchet MS" panose="020B0603020202020204"/>
              </a:rPr>
              <a:t>The Roadmap to Enterprise Scale</a:t>
            </a:r>
            <a:endParaRPr sz="3000" b="1" i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7724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5A0D0"/>
                </a:solidFill>
                <a:latin typeface="Calibri" panose="020F0502020204030204"/>
              </a:rPr>
              <a:t>Production Enhancements</a:t>
            </a:r>
            <a:endParaRPr sz="1800" b="1" i="0">
              <a:solidFill>
                <a:srgbClr val="F5A0D0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972800" cy="4480560"/>
          </a:xfrm>
          <a:prstGeom prst="roundRect">
            <a:avLst/>
          </a:prstGeom>
          <a:solidFill>
            <a:srgbClr val="2D1226"/>
          </a:solidFill>
          <a:ln w="12700">
            <a:solidFill>
              <a:srgbClr val="3D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1993392"/>
            <a:ext cx="4023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Distributed Architecture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93268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E9D8E3"/>
                </a:solidFill>
                <a:latin typeface="Calibri" panose="020F0502020204030204"/>
              </a:rPr>
              <a:t>Integrating Apache Kafka message queues to achieve resilient event buffering and fault isolation.</a:t>
            </a:r>
            <a:endParaRPr sz="1400" b="0" i="0">
              <a:solidFill>
                <a:srgbClr val="E9D8E3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3246120"/>
            <a:ext cx="411480" cy="411480"/>
          </a:xfrm>
          <a:prstGeom prst="ellipse">
            <a:avLst/>
          </a:prstGeom>
          <a:solidFill>
            <a:srgbClr val="F5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3227832"/>
            <a:ext cx="4023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Custom Fine-Tuning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3520440"/>
            <a:ext cx="93268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E9D8E3"/>
                </a:solidFill>
                <a:latin typeface="Calibri" panose="020F0502020204030204"/>
              </a:rPr>
              <a:t>Developing specialized YOLO networks optimized explicitly for cosmetic store layouts and varied camera viewing angles.</a:t>
            </a:r>
            <a:endParaRPr sz="1400" b="0" i="0">
              <a:solidFill>
                <a:srgbClr val="E9D8E3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4400" y="4480560"/>
            <a:ext cx="411480" cy="411480"/>
          </a:xfrm>
          <a:prstGeom prst="ellipse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63040" y="4462272"/>
            <a:ext cx="4023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Chain-Wide Views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4754880"/>
            <a:ext cx="93268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E9D8E3"/>
                </a:solidFill>
                <a:latin typeface="Calibri" panose="020F0502020204030204"/>
              </a:rPr>
              <a:t>Scaling localized store metrics into cross-city regional intelligence streams.</a:t>
            </a:r>
            <a:endParaRPr sz="1400" b="0" i="0">
              <a:solidFill>
                <a:srgbClr val="E9D8E3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32520" y="5623560"/>
            <a:ext cx="2468880" cy="329184"/>
          </a:xfrm>
          <a:prstGeom prst="roundRect">
            <a:avLst/>
          </a:prstGeom>
          <a:solidFill>
            <a:srgbClr val="E0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PS3 • ADITYA VERMA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4203</Words>
  <Application>WPS Presentation</Application>
  <PresentationFormat>On-screen Show (4:3)</PresentationFormat>
  <Paragraphs>239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Arial</vt:lpstr>
      <vt:lpstr>Trebuchet MS</vt:lpstr>
      <vt:lpstr>Calibri</vt:lpstr>
      <vt:lpstr>Consolas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Aditya Verma</cp:lastModifiedBy>
  <cp:revision>2</cp:revision>
  <dcterms:created xsi:type="dcterms:W3CDTF">2013-01-27T09:14:00Z</dcterms:created>
  <dcterms:modified xsi:type="dcterms:W3CDTF">2026-06-16T14:59:59Z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3BF2C4F353A945C08E00532E643CEE49_12</vt:lpwstr>
  </property>
  <property fmtid="{D5CDD505-2E9C-101B-9397-08002B2CF9AE}" pid="3" name="KSOProductBuildVer">
    <vt:lpwstr>1033-12.1.0.26880</vt:lpwstr>
  </property>
</Properties>
</file>